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79" r:id="rId11"/>
    <p:sldId id="280" r:id="rId12"/>
    <p:sldId id="281" r:id="rId13"/>
    <p:sldId id="269" r:id="rId14"/>
    <p:sldId id="272" r:id="rId15"/>
    <p:sldId id="271" r:id="rId16"/>
    <p:sldId id="273" r:id="rId17"/>
    <p:sldId id="275" r:id="rId18"/>
    <p:sldId id="274" r:id="rId19"/>
    <p:sldId id="278" r:id="rId20"/>
    <p:sldId id="282" r:id="rId21"/>
    <p:sldId id="277" r:id="rId22"/>
    <p:sldId id="28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770" autoAdjust="0"/>
  </p:normalViewPr>
  <p:slideViewPr>
    <p:cSldViewPr snapToGrid="0">
      <p:cViewPr varScale="1">
        <p:scale>
          <a:sx n="71" d="100"/>
          <a:sy n="71" d="100"/>
        </p:scale>
        <p:origin x="11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E8A1C-2945-478B-8219-EA413954DE4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6AC74-9705-4135-9182-29224DE17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8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</a:t>
            </a:r>
            <a:r>
              <a:rPr lang="en-US" b="1" dirty="0"/>
              <a:t>split</a:t>
            </a:r>
            <a:r>
              <a:rPr lang="en-US" dirty="0"/>
              <a:t> each speech into smaller pieces — </a:t>
            </a:r>
            <a:r>
              <a:rPr lang="en-US" i="1" dirty="0"/>
              <a:t>chunks</a:t>
            </a:r>
            <a:r>
              <a:rPr lang="en-US" dirty="0"/>
              <a:t> — of about 200 – 300 words.</a:t>
            </a:r>
          </a:p>
          <a:p>
            <a:r>
              <a:rPr lang="en-US" b="1" dirty="0"/>
              <a:t>Meaning:</a:t>
            </a:r>
            <a:r>
              <a:rPr lang="en-US" dirty="0"/>
              <a:t> Breaking long speeches into smaller, meaningful text segments called </a:t>
            </a:r>
            <a:r>
              <a:rPr lang="en-US" i="1" dirty="0"/>
              <a:t>chunks.</a:t>
            </a:r>
            <a:endParaRPr lang="en-US" dirty="0"/>
          </a:p>
          <a:p>
            <a:r>
              <a:rPr lang="en-US" b="1" dirty="0"/>
              <a:t>Purpose:</a:t>
            </a:r>
            <a:r>
              <a:rPr lang="en-US" dirty="0"/>
              <a:t> Each chunk captures a single theme or idea — helps the model detect topic shifts more accurately.</a:t>
            </a:r>
          </a:p>
          <a:p>
            <a:r>
              <a:rPr lang="en-US" b="1" dirty="0"/>
              <a:t>Why needed:</a:t>
            </a:r>
            <a:r>
              <a:rPr lang="en-US" dirty="0"/>
              <a:t> A full speech may discuss multiple topics; chunking lets us analyze those changes within the same speech.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r>
              <a:rPr lang="en-US" dirty="0"/>
              <a:t>126 speeches → </a:t>
            </a:r>
            <a:r>
              <a:rPr lang="en-US" b="1" dirty="0"/>
              <a:t>320 chunks</a:t>
            </a:r>
            <a:endParaRPr lang="en-US" dirty="0"/>
          </a:p>
          <a:p>
            <a:r>
              <a:rPr lang="en-US" dirty="0"/>
              <a:t>On average, </a:t>
            </a:r>
            <a:r>
              <a:rPr lang="en-US" b="1" dirty="0"/>
              <a:t>2–3 chunks per speech</a:t>
            </a:r>
            <a:endParaRPr lang="en-US" dirty="0"/>
          </a:p>
          <a:p>
            <a:r>
              <a:rPr lang="en-US" dirty="0"/>
              <a:t>Each chunk acts as a </a:t>
            </a:r>
            <a:r>
              <a:rPr lang="en-US" b="1" dirty="0"/>
              <a:t>time step</a:t>
            </a:r>
            <a:r>
              <a:rPr lang="en-US" dirty="0"/>
              <a:t> in the Markov topic sequence.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1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320 smaller units of text (each representing a few sentences or a short paragraph).</a:t>
                </a:r>
              </a:p>
              <a:p>
                <a:r>
                  <a:rPr lang="en-IN" dirty="0"/>
                  <a:t>On average: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320</m:t>
                          </m:r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chunks</m:t>
                          </m:r>
                        </m:num>
                        <m:den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126</m:t>
                          </m:r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speeches</m:t>
                          </m:r>
                        </m:den>
                      </m:f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54</m:t>
                      </m:r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chunks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per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speech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US" dirty="0"/>
                  <a:t>So most speeches were split into </a:t>
                </a:r>
                <a:r>
                  <a:rPr lang="en-US" b="1" dirty="0"/>
                  <a:t>2–3 segments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Some shorter speeches might remain as one chunk, while longer ones may produce several.</a:t>
                </a:r>
              </a:p>
              <a:p>
                <a:endParaRPr lang="en-IN" b="0" dirty="0"/>
              </a:p>
              <a:p>
                <a:r>
                  <a:rPr lang="en-US" dirty="0"/>
                  <a:t>Capture </a:t>
                </a:r>
                <a:r>
                  <a:rPr lang="en-US" b="1" dirty="0"/>
                  <a:t>topic changes within speeches</a:t>
                </a:r>
                <a:endParaRPr lang="en-US" dirty="0"/>
              </a:p>
              <a:p>
                <a:r>
                  <a:rPr lang="en-US" dirty="0"/>
                  <a:t>Make each document unit more homogeneous</a:t>
                </a:r>
              </a:p>
              <a:p>
                <a:r>
                  <a:rPr lang="en-US" dirty="0"/>
                  <a:t>Improve </a:t>
                </a:r>
                <a:r>
                  <a:rPr lang="en-US" b="1" dirty="0"/>
                  <a:t>topic coherence</a:t>
                </a: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320 smaller units of text (each representing a few sentences or a short paragraph).</a:t>
                </a:r>
              </a:p>
              <a:p>
                <a:r>
                  <a:rPr lang="en-IN" dirty="0"/>
                  <a:t>On average: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320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chunks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/126"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speeches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≈2.54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chunks per speech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IN" b="0" dirty="0"/>
              </a:p>
              <a:p>
                <a:r>
                  <a:rPr lang="en-US" dirty="0"/>
                  <a:t>So most speeches were split into </a:t>
                </a:r>
                <a:r>
                  <a:rPr lang="en-US" b="1" dirty="0"/>
                  <a:t>2–3 segments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Some shorter speeches might remain as one chunk, while longer ones may produce several.</a:t>
                </a:r>
              </a:p>
              <a:p>
                <a:endParaRPr lang="en-IN" b="0" dirty="0"/>
              </a:p>
              <a:p>
                <a:r>
                  <a:rPr lang="en-US" dirty="0"/>
                  <a:t>Capture </a:t>
                </a:r>
                <a:r>
                  <a:rPr lang="en-US" b="1" dirty="0"/>
                  <a:t>topic changes within speeches</a:t>
                </a:r>
                <a:endParaRPr lang="en-US" dirty="0"/>
              </a:p>
              <a:p>
                <a:r>
                  <a:rPr lang="en-US" dirty="0"/>
                  <a:t>Make each document unit more homogeneous</a:t>
                </a:r>
              </a:p>
              <a:p>
                <a:r>
                  <a:rPr lang="en-US" dirty="0"/>
                  <a:t>Improve </a:t>
                </a:r>
                <a:r>
                  <a:rPr lang="en-US" b="1" dirty="0"/>
                  <a:t>topic coherence</a:t>
                </a:r>
                <a:endParaRPr lang="en-US" dirty="0"/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316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06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fun part — </a:t>
            </a:r>
            <a:r>
              <a:rPr lang="en-US" b="1" dirty="0"/>
              <a:t>discovering hidden themes</a:t>
            </a:r>
            <a:r>
              <a:rPr lang="en-US" dirty="0"/>
              <a:t>.</a:t>
            </a:r>
          </a:p>
          <a:p>
            <a:r>
              <a:rPr lang="en-US" b="1" dirty="0"/>
              <a:t>💡 What is a “Topic”?</a:t>
            </a:r>
          </a:p>
          <a:p>
            <a:r>
              <a:rPr lang="en-US" dirty="0"/>
              <a:t>A </a:t>
            </a:r>
            <a:r>
              <a:rPr lang="en-US" i="1" dirty="0"/>
              <a:t>topic</a:t>
            </a:r>
            <a:r>
              <a:rPr lang="en-US" dirty="0"/>
              <a:t> is a group of words that often appear together.</a:t>
            </a:r>
            <a:br>
              <a:rPr lang="en-US" dirty="0"/>
            </a:br>
            <a:r>
              <a:rPr lang="en-US" dirty="0"/>
              <a:t>For example:</a:t>
            </a:r>
          </a:p>
          <a:p>
            <a:r>
              <a:rPr lang="en-US" dirty="0" err="1"/>
              <a:t>TopicWordsAfarmer</a:t>
            </a:r>
            <a:r>
              <a:rPr lang="en-US" dirty="0"/>
              <a:t>, crop, harvest, </a:t>
            </a:r>
            <a:r>
              <a:rPr lang="en-US" dirty="0" err="1"/>
              <a:t>waterBstudent</a:t>
            </a:r>
            <a:r>
              <a:rPr lang="en-US" dirty="0"/>
              <a:t>, school, exam, </a:t>
            </a:r>
            <a:r>
              <a:rPr lang="en-US" dirty="0" err="1"/>
              <a:t>teacherChealth</a:t>
            </a:r>
            <a:r>
              <a:rPr lang="en-US" dirty="0"/>
              <a:t>, yoga, doctor, vaccine</a:t>
            </a:r>
          </a:p>
          <a:p>
            <a:r>
              <a:rPr lang="en-US" dirty="0"/>
              <a:t>A document can talk about several topics at once:</a:t>
            </a:r>
          </a:p>
          <a:p>
            <a:r>
              <a:rPr lang="en-US" dirty="0"/>
              <a:t>Speech 1 → 60 % Topic A + 40 % Topic B</a:t>
            </a:r>
          </a:p>
          <a:p>
            <a:r>
              <a:rPr lang="en-US" dirty="0"/>
              <a:t>Speech 2 → 90 % Topic C</a:t>
            </a:r>
          </a:p>
          <a:p>
            <a:r>
              <a:rPr lang="en-US" dirty="0"/>
              <a:t>That’s what </a:t>
            </a:r>
            <a:r>
              <a:rPr lang="en-US" b="1" dirty="0"/>
              <a:t>LDA (Latent Dirichlet Allocation)</a:t>
            </a:r>
            <a:r>
              <a:rPr lang="en-US" dirty="0"/>
              <a:t> does.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89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probability of a word = sum over topics (probability that topic appears in this document × probability that topic uses this word).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336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every chunk </a:t>
            </a:r>
            <a:r>
              <a:rPr lang="en-IN" i="1" dirty="0"/>
              <a:t>d</a:t>
            </a:r>
            <a:r>
              <a:rPr lang="en-IN" dirty="0"/>
              <a:t>, LDA gives a probability vector </a:t>
            </a:r>
            <a:r>
              <a:rPr lang="el-GR" dirty="0"/>
              <a:t>θ</a:t>
            </a:r>
            <a:r>
              <a:rPr lang="en-IN" dirty="0"/>
              <a:t>ᵈ:</a:t>
            </a:r>
          </a:p>
          <a:p>
            <a:r>
              <a:rPr lang="en-IN" dirty="0"/>
              <a:t>| Topic | P(topic | chunk d) |</a:t>
            </a:r>
            <a:br>
              <a:rPr lang="en-IN" dirty="0"/>
            </a:br>
            <a:r>
              <a:rPr lang="en-IN" dirty="0"/>
              <a:t>|--|--|</a:t>
            </a:r>
            <a:br>
              <a:rPr lang="en-IN" dirty="0"/>
            </a:br>
            <a:r>
              <a:rPr lang="en-IN" dirty="0"/>
              <a:t>| 0 | 0.10 |</a:t>
            </a:r>
            <a:br>
              <a:rPr lang="en-IN" dirty="0"/>
            </a:br>
            <a:r>
              <a:rPr lang="en-IN" dirty="0"/>
              <a:t>| 1 | 0.05 |</a:t>
            </a:r>
            <a:br>
              <a:rPr lang="en-IN" dirty="0"/>
            </a:br>
            <a:r>
              <a:rPr lang="en-IN" dirty="0"/>
              <a:t>| 2 | 0.10 |</a:t>
            </a:r>
            <a:br>
              <a:rPr lang="en-IN" dirty="0"/>
            </a:br>
            <a:r>
              <a:rPr lang="en-IN" dirty="0"/>
              <a:t>| 3 | 0.70 |</a:t>
            </a:r>
            <a:br>
              <a:rPr lang="en-IN" dirty="0"/>
            </a:br>
            <a:r>
              <a:rPr lang="en-IN" dirty="0"/>
              <a:t>| 4 | 0.03 |</a:t>
            </a:r>
            <a:br>
              <a:rPr lang="en-IN" dirty="0"/>
            </a:br>
            <a:r>
              <a:rPr lang="en-IN" dirty="0"/>
              <a:t>| 5 | 0.02 |</a:t>
            </a:r>
          </a:p>
          <a:p>
            <a:r>
              <a:rPr lang="en-IN" dirty="0"/>
              <a:t>→ Chunk </a:t>
            </a:r>
            <a:r>
              <a:rPr lang="en-IN" i="1" dirty="0"/>
              <a:t>d</a:t>
            </a:r>
            <a:r>
              <a:rPr lang="en-IN" dirty="0"/>
              <a:t> is 70 % about Topic 3 (Education/Farmers).</a:t>
            </a:r>
            <a:br>
              <a:rPr lang="en-IN" dirty="0"/>
            </a:br>
            <a:r>
              <a:rPr lang="en-IN" dirty="0"/>
              <a:t>The </a:t>
            </a:r>
            <a:r>
              <a:rPr lang="en-IN" b="1" dirty="0"/>
              <a:t>dominant topic</a:t>
            </a:r>
            <a:r>
              <a:rPr lang="en-IN" dirty="0"/>
              <a:t> is 3.</a:t>
            </a:r>
          </a:p>
          <a:p>
            <a:r>
              <a:rPr lang="en-IN"/>
              <a:t>Doing this for all 320 chunks yields a sequence of dominant topics across time — ready for temporal analysis.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3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439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 </a:t>
                </a:r>
                <a:r>
                  <a:rPr lang="en-IN" dirty="0" err="1"/>
                  <a:t>Tj</a:t>
                </a:r>
                <a:r>
                  <a:rPr lang="en-IN" dirty="0"/>
                  <a:t>​=min{t≥1:Xt​=j}.</a:t>
                </a:r>
              </a:p>
              <a:p>
                <a:r>
                  <a:rPr lang="en-IN" dirty="0"/>
                  <a:t>Condition on the first step. From state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IN" dirty="0"/>
                  <a:t>the chain moves to some state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IN" dirty="0"/>
                  <a:t>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IN" dirty="0"/>
                  <a:t>Two cases: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lang="en-I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IN" dirty="0"/>
                  <a:t>, then we reached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IN" dirty="0"/>
                  <a:t>in 1 step.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lang="en-I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≠</m:t>
                    </m:r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IN" dirty="0"/>
                  <a:t>, then we spent 1 step and still need expected additional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IN" dirty="0"/>
                  <a:t>steps to reach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Therefore the law of total expectation gives the fundamental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𝑖𝑗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𝑖𝑗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≠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which simplifies (because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𝑖𝑗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IN" dirty="0"/>
                  <a:t>already included)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𝑖𝑗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≠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𝑘𝑗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≠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lang="en-I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𝑗𝑗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dirty="0"/>
                  <a:t>This is a linear system in the unknowns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𝑖𝑗</m:t>
                            </m:r>
                          </m:sub>
                        </m:s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≠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 </a:t>
                </a:r>
                <a:r>
                  <a:rPr lang="en-IN" dirty="0" err="1"/>
                  <a:t>Tj</a:t>
                </a:r>
                <a:r>
                  <a:rPr lang="en-IN" dirty="0"/>
                  <a:t>​=min{t≥1:Xt​=j}.</a:t>
                </a:r>
              </a:p>
              <a:p>
                <a:r>
                  <a:rPr lang="en-IN" dirty="0"/>
                  <a:t>Condition on the first step. From state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𝑖</a:t>
                </a:r>
                <a:r>
                  <a:rPr lang="en-IN" dirty="0"/>
                  <a:t>the chain moves to some state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𝑘</a:t>
                </a:r>
                <a:r>
                  <a:rPr lang="en-IN" dirty="0"/>
                  <a:t>with probability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𝑃_𝑖𝑘</a:t>
                </a:r>
                <a:r>
                  <a:rPr lang="ar-AE" dirty="0"/>
                  <a:t>. </a:t>
                </a:r>
                <a:r>
                  <a:rPr lang="en-IN" dirty="0"/>
                  <a:t>Two cases:</a:t>
                </a:r>
              </a:p>
              <a:p>
                <a:r>
                  <a:rPr lang="en-IN" dirty="0"/>
                  <a:t>If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𝑘=𝑗</a:t>
                </a:r>
                <a:r>
                  <a:rPr lang="en-IN" dirty="0"/>
                  <a:t>, then we reached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𝑗</a:t>
                </a:r>
                <a:r>
                  <a:rPr lang="en-IN" dirty="0"/>
                  <a:t>in 1 step.</a:t>
                </a:r>
              </a:p>
              <a:p>
                <a:r>
                  <a:rPr lang="en-IN" dirty="0"/>
                  <a:t>If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𝑘≠𝑗</a:t>
                </a:r>
                <a:r>
                  <a:rPr lang="en-IN" dirty="0"/>
                  <a:t>, then we spent 1 step and still need expected additional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𝑚_𝑘𝑗</a:t>
                </a:r>
                <a:r>
                  <a:rPr lang="en-IN" dirty="0"/>
                  <a:t>steps to reach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𝑗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Therefore the law of total expectation gives the fundamental equation: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𝑚_𝑖𝑗=1⋅𝑃_𝑖𝑗+∑128_(𝑘≠𝑗)▒𝑃_𝑖𝑘  (1+𝑚_𝑘𝑗 )</a:t>
                </a:r>
                <a:endParaRPr lang="ar-AE" dirty="0"/>
              </a:p>
              <a:p>
                <a:r>
                  <a:rPr lang="en-IN" dirty="0"/>
                  <a:t>which simplifies (because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𝑃_𝑖𝑗⋅1</a:t>
                </a:r>
                <a:r>
                  <a:rPr lang="en-IN" dirty="0"/>
                  <a:t>already included) to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𝑚_𝑖𝑗=1+∑128_(𝑘≠𝑗)▒𝑃_𝑖𝑘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" 𝑚_𝑘𝑗, (𝑖≠𝑗).</a:t>
                </a:r>
                <a:endParaRPr lang="ar-AE" b="0" dirty="0"/>
              </a:p>
              <a:p>
                <a:r>
                  <a:rPr lang="en-IN" dirty="0"/>
                  <a:t>For </a:t>
                </a:r>
                <a:r>
                  <a:rPr lang="en-IN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𝑖=𝑗</a:t>
                </a:r>
                <a:r>
                  <a:rPr lang="en-IN" dirty="0"/>
                  <a:t>: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𝑚_𝑗𝑗=0</a:t>
                </a:r>
                <a:r>
                  <a:rPr lang="ar-AE" dirty="0"/>
                  <a:t>.</a:t>
                </a:r>
              </a:p>
              <a:p>
                <a:r>
                  <a:rPr lang="en-IN" dirty="0"/>
                  <a:t>This is a linear system in the unknowns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{𝑚_𝑖𝑗:𝑖≠𝑗}</a:t>
                </a:r>
                <a:r>
                  <a:rPr lang="ar-AE" dirty="0"/>
                  <a:t>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95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Entropy Rate (bits/step) Interpretation Example Behavior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0.0 – 0.1 </a:t>
            </a:r>
            <a:r>
              <a:rPr lang="en-US" b="1" dirty="0"/>
              <a:t>Highly Predictable / Stable</a:t>
            </a:r>
            <a:r>
              <a:rPr lang="en-US" dirty="0"/>
              <a:t> Speeches repeat same theme (your case)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0.1 – 1.0 </a:t>
            </a:r>
            <a:r>
              <a:rPr lang="en-US" b="1" dirty="0"/>
              <a:t>Moderately Predictable</a:t>
            </a:r>
            <a:r>
              <a:rPr lang="en-US" dirty="0"/>
              <a:t> A few recurring themes, mild variation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1.0 – 2.0 </a:t>
            </a:r>
            <a:r>
              <a:rPr lang="en-US" b="1" dirty="0"/>
              <a:t>Fairly Unpredictable</a:t>
            </a:r>
            <a:r>
              <a:rPr lang="en-US" dirty="0"/>
              <a:t> Topics often shift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 2.0 (near log₂(6)=2.585) </a:t>
            </a:r>
            <a:r>
              <a:rPr lang="en-US" b="1" dirty="0"/>
              <a:t>Completely Random</a:t>
            </a:r>
            <a:r>
              <a:rPr lang="en-US" dirty="0"/>
              <a:t> Each speech unrelated to last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473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LDA uncovered </a:t>
            </a:r>
            <a:r>
              <a:rPr lang="en-US" i="1" dirty="0"/>
              <a:t>what</a:t>
            </a:r>
            <a:r>
              <a:rPr lang="en-US" dirty="0"/>
              <a:t> is discussed;</a:t>
            </a:r>
            <a:br>
              <a:rPr lang="en-US" dirty="0"/>
            </a:br>
            <a:r>
              <a:rPr lang="en-US" dirty="0"/>
              <a:t>Markov analysis revealed </a:t>
            </a:r>
            <a:r>
              <a:rPr lang="en-US" i="1" dirty="0"/>
              <a:t>how</a:t>
            </a:r>
            <a:r>
              <a:rPr lang="en-US" dirty="0"/>
              <a:t> and </a:t>
            </a:r>
            <a:r>
              <a:rPr lang="en-US" i="1" dirty="0"/>
              <a:t>how often</a:t>
            </a:r>
            <a:r>
              <a:rPr lang="en-US" dirty="0"/>
              <a:t> topics evolve — turning language into measurable communication dynamics.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6AC74-9705-4135-9182-29224DE17F7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2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75F35-53AC-42ED-9F0F-374DE73C43F4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CAF1-0936-49FF-891F-4F24707FAF38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21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0811-5F14-4B8F-AB8A-89298B7424C9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51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B1E5-7754-41B3-8DC8-390FC3111EB5}" type="datetime1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0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2BF5-9CCD-4E5B-AA28-E9D008FD981E}" type="datetime1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01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4762-F918-4ACF-89E5-FC0E9E22EB28}" type="datetime1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9FAA-0E3B-477C-AD0E-65C54AC13EC2}" type="datetime1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94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717DA5-DCFE-4A7E-A1AC-4DB9635FB48F}" type="datetime1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81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74F5-3399-4F4D-A723-E40277C2ED01}" type="datetime1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6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276A-18ED-454D-B54F-8F4D74767E82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4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5912C-7A4C-44DD-AE5A-15BB56CE6A95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3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719B1E-B53C-4BAB-90EB-A65F9466BB23}" type="datetime1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715135-20D0-4DE2-80F5-AD5A21D1576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03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FB1-FCF7-564A-5FB8-DEA39E932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910" y="1342228"/>
            <a:ext cx="1086618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Thematic &amp; Temporal Analysis of “ Mann Ki Baat” Speeches </a:t>
            </a:r>
            <a:endParaRPr lang="en-IN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7DF12-9A8E-C1EB-F016-DF4F40B6A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545" y="4645203"/>
            <a:ext cx="9144000" cy="1655762"/>
          </a:xfrm>
        </p:spPr>
        <p:txBody>
          <a:bodyPr/>
          <a:lstStyle/>
          <a:p>
            <a:r>
              <a:rPr lang="en-US" dirty="0"/>
              <a:t>Guide : DR. Mohan Kale</a:t>
            </a:r>
          </a:p>
          <a:p>
            <a:r>
              <a:rPr lang="en-US" dirty="0"/>
              <a:t>Statistical Foundations of Data Science</a:t>
            </a:r>
          </a:p>
          <a:p>
            <a:r>
              <a:rPr lang="en-US" dirty="0"/>
              <a:t>~ Adinath Nare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70552-688A-0497-D43A-39BB30DF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65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B949-AFD6-92B2-0666-21E8778B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Introduction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D5859-9AC6-D502-8906-AADE713E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study focuses on analyzing “Mann Ki Baat” speeches delivered by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Prime Minister of India Narendra Modi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uncover key themes and communication patterns.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deals with textual data, aiming to convert unstructured language into meaningful and measurable insights.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study explores how ideas evolve across episodes and identifies the most recurring subjects within the speeches.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2C26A-C41B-AFA0-78E2-87A7E20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2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88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548D-C8B8-A8B2-C128-4A67E955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Motivation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42732-9988-92D1-5F32-BD34A846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1. To understand the underlying themes and messages conveyed through Mann Ki Baat speeches, which reflect national priorities and public communication trends.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 To transform unstructured textual data into measurable insights that reveal how key topics and ideas evolve over time.</a:t>
            </a: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59F6F-DAC5-1E21-D7E5-9019D1F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3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51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F593-3C59-3FD5-FD21-FF083D4C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Objective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73A61-39A9-20A4-827E-899B57DC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54" y="1991508"/>
            <a:ext cx="10058400" cy="38301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aim of this study was to analyze Prime Minister Narendra Modi’s “Mann Ki Baat” speeches to understand:</a:t>
            </a:r>
          </a:p>
          <a:p>
            <a: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main themes (topics) appear in the speeches?</a:t>
            </a:r>
          </a:p>
          <a:p>
            <a: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these themes change over time ?</a:t>
            </a:r>
          </a:p>
          <a:p>
            <a: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themes are most dominant in the long run?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understand the temporal structure and predictability of those themes.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B0F1F-D238-B590-F7A1-728379EF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4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00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ED7B-A809-E88A-B2E0-ABEDA929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Understanding the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0BA16F-A779-AAC4-7234-8B6D24056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8210812"/>
              </p:ext>
            </p:extLst>
          </p:nvPr>
        </p:nvGraphicFramePr>
        <p:xfrm>
          <a:off x="1097280" y="2436192"/>
          <a:ext cx="10058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70149328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329652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Feature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Description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422329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Episode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Serial number of the speech</a:t>
                      </a:r>
                      <a:endParaRPr lang="en-IN" sz="2400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1570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Date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When the episode was broadcast</a:t>
                      </a:r>
                      <a:endParaRPr lang="en-IN" sz="2400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996387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Title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Title of the episode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9012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Speech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full text of the speech</a:t>
                      </a:r>
                      <a:endParaRPr lang="en-IN" sz="2400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588244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5DA43B-4DFA-EBE5-1722-A6DDA715F097}"/>
              </a:ext>
            </a:extLst>
          </p:cNvPr>
          <p:cNvSpPr txBox="1"/>
          <p:nvPr/>
        </p:nvSpPr>
        <p:spPr>
          <a:xfrm>
            <a:off x="1097280" y="5120641"/>
            <a:ext cx="10680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Total speeches: 126 Taking from </a:t>
            </a:r>
            <a:r>
              <a:rPr lang="en-US" sz="2400" b="1" u="sng" dirty="0"/>
              <a:t>pmindia.gov.in (June 2014-Present)</a:t>
            </a:r>
          </a:p>
          <a:p>
            <a:r>
              <a:rPr lang="en-US" sz="2400" dirty="0"/>
              <a:t>Each cell in the Speech column contains one full Mann Ki Baat speech.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6856-E808-5A79-3CE0-68368F1B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5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5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36D7-E6B7-5290-B6C6-44001594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213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6ADB7-D4C5-1EE3-AB38-2BFA0B90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69" y="2100223"/>
            <a:ext cx="4599028" cy="1158207"/>
          </a:xfrm>
        </p:spPr>
        <p:txBody>
          <a:bodyPr/>
          <a:lstStyle/>
          <a:p>
            <a:r>
              <a:rPr lang="en-US" dirty="0"/>
              <a:t>Raw text contains noise — punctuation, numbers, special symbols, and common words that don’t add meaning.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0D5D0C-4219-F99D-9A3E-A72B6E62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130546"/>
              </p:ext>
            </p:extLst>
          </p:nvPr>
        </p:nvGraphicFramePr>
        <p:xfrm>
          <a:off x="5605671" y="1733499"/>
          <a:ext cx="6586329" cy="467308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95443">
                  <a:extLst>
                    <a:ext uri="{9D8B030D-6E8A-4147-A177-3AD203B41FA5}">
                      <a16:colId xmlns:a16="http://schemas.microsoft.com/office/drawing/2014/main" val="1547239028"/>
                    </a:ext>
                  </a:extLst>
                </a:gridCol>
                <a:gridCol w="2195443">
                  <a:extLst>
                    <a:ext uri="{9D8B030D-6E8A-4147-A177-3AD203B41FA5}">
                      <a16:colId xmlns:a16="http://schemas.microsoft.com/office/drawing/2014/main" val="1579943696"/>
                    </a:ext>
                  </a:extLst>
                </a:gridCol>
                <a:gridCol w="2195443">
                  <a:extLst>
                    <a:ext uri="{9D8B030D-6E8A-4147-A177-3AD203B41FA5}">
                      <a16:colId xmlns:a16="http://schemas.microsoft.com/office/drawing/2014/main" val="1391208440"/>
                    </a:ext>
                  </a:extLst>
                </a:gridCol>
              </a:tblGrid>
              <a:tr h="457869">
                <a:tc>
                  <a:txBody>
                    <a:bodyPr/>
                    <a:lstStyle/>
                    <a:p>
                      <a:r>
                        <a:rPr lang="en-IN" b="0" dirty="0"/>
                        <a:t>Step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Why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1352304"/>
                  </a:ext>
                </a:extLst>
              </a:tr>
              <a:tr h="626628">
                <a:tc>
                  <a:txBody>
                    <a:bodyPr/>
                    <a:lstStyle/>
                    <a:p>
                      <a:r>
                        <a:rPr lang="en-IN" b="0" dirty="0"/>
                        <a:t>Lowercasing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To avoid treating “India” ≠ “</a:t>
                      </a:r>
                      <a:r>
                        <a:rPr lang="en-US" b="0" dirty="0" err="1"/>
                        <a:t>india</a:t>
                      </a:r>
                      <a:r>
                        <a:rPr lang="en-US" b="0" dirty="0"/>
                        <a:t>”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“India” → “</a:t>
                      </a:r>
                      <a:r>
                        <a:rPr lang="en-IN" b="0" dirty="0" err="1"/>
                        <a:t>india</a:t>
                      </a:r>
                      <a:r>
                        <a:rPr lang="en-IN" b="0" dirty="0"/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0003684"/>
                  </a:ext>
                </a:extLst>
              </a:tr>
              <a:tr h="895183">
                <a:tc>
                  <a:txBody>
                    <a:bodyPr/>
                    <a:lstStyle/>
                    <a:p>
                      <a:r>
                        <a:rPr lang="en-IN" b="0" dirty="0"/>
                        <a:t>Remove punctuation/numbers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They don’t carry 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/>
                        <a:t>“100th Mann Ki Baat!” → “mann ki baat”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983839"/>
                  </a:ext>
                </a:extLst>
              </a:tr>
              <a:tr h="1163738">
                <a:tc>
                  <a:txBody>
                    <a:bodyPr/>
                    <a:lstStyle/>
                    <a:p>
                      <a:r>
                        <a:rPr lang="en-IN" b="0" dirty="0"/>
                        <a:t>Tokenization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Split text into individual words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“We celebrate Clean India” → [‘we’, ‘celebrate’, ‘clean’, ‘</a:t>
                      </a:r>
                      <a:r>
                        <a:rPr lang="en-US" b="0" dirty="0" err="1"/>
                        <a:t>india</a:t>
                      </a:r>
                      <a:r>
                        <a:rPr lang="en-US" b="0" dirty="0"/>
                        <a:t>’]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304134"/>
                  </a:ext>
                </a:extLst>
              </a:tr>
              <a:tr h="831939">
                <a:tc>
                  <a:txBody>
                    <a:bodyPr/>
                    <a:lstStyle/>
                    <a:p>
                      <a:r>
                        <a:rPr lang="en-IN" b="0" dirty="0" err="1"/>
                        <a:t>Stopword</a:t>
                      </a:r>
                      <a:r>
                        <a:rPr lang="en-IN" b="0" dirty="0"/>
                        <a:t> removal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Remove common words like “the”, “is”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[‘celebrate’, ‘clean’, ‘</a:t>
                      </a:r>
                      <a:r>
                        <a:rPr lang="en-US" b="0" dirty="0" err="1"/>
                        <a:t>india</a:t>
                      </a:r>
                      <a:r>
                        <a:rPr lang="en-US" b="0" dirty="0"/>
                        <a:t>’]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019089"/>
                  </a:ext>
                </a:extLst>
              </a:tr>
              <a:tr h="626628">
                <a:tc>
                  <a:txBody>
                    <a:bodyPr/>
                    <a:lstStyle/>
                    <a:p>
                      <a:r>
                        <a:rPr lang="en-US" b="0" dirty="0"/>
                        <a:t>Lemmatization	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Convert words to root form	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“celebrating” → “celebrate”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42844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4D392E-9ACD-2264-849F-BB8F5FC4EA58}"/>
              </a:ext>
            </a:extLst>
          </p:cNvPr>
          <p:cNvSpPr txBox="1"/>
          <p:nvPr/>
        </p:nvSpPr>
        <p:spPr>
          <a:xfrm>
            <a:off x="832969" y="3696877"/>
            <a:ext cx="4599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“Namaskar friends, today we celebrate the success of our players.”→ </a:t>
            </a:r>
          </a:p>
          <a:p>
            <a:r>
              <a:rPr lang="en-US" sz="2000" b="1" dirty="0"/>
              <a:t>[‘namaskar’, ‘friends’, ‘today’, ‘celebrate’, ‘success’, ‘players’]</a:t>
            </a:r>
            <a:endParaRPr lang="en-IN" sz="2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A737B-664B-0455-1477-CABBDA79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6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8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37AE-2DDE-5C56-E31D-102E4CCA9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61" y="360940"/>
            <a:ext cx="10515600" cy="1325563"/>
          </a:xfrm>
        </p:spPr>
        <p:txBody>
          <a:bodyPr/>
          <a:lstStyle/>
          <a:p>
            <a:r>
              <a:rPr lang="en-IN" dirty="0"/>
              <a:t>Chunking — Splitting Long Speeches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A961-94AC-B931-4C3F-EA76F7EE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517" y="1947493"/>
            <a:ext cx="10515600" cy="49105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Mann Ki Baat speech is very long — sometimes several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pages.If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 feed the whole speech into the topic model, it becomes confusing because one speech can talk about many subjects (farmers + students + yoga + festivals + health …).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Topic models ( LDA we see next ) work best when one document focuses on one or two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ideas.So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we split long speeches into smaller parts, called chunks.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0B21F-F8CB-80A8-BF44-F357839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7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45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AC47-CF94-0908-C463-733F88D10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91" y="529004"/>
            <a:ext cx="10515600" cy="6035006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Example Original speech:</a:t>
            </a:r>
            <a:endParaRPr lang="en-US" sz="2400" dirty="0"/>
          </a:p>
          <a:p>
            <a:r>
              <a:rPr lang="en-US" dirty="0"/>
              <a:t>“Our farmers are working hard this season. Students across India have done well in exams. Yoga brings discipline to life.”</a:t>
            </a:r>
          </a:p>
          <a:p>
            <a:r>
              <a:rPr lang="en-IN" dirty="0"/>
              <a:t>After chunking: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b="1" dirty="0"/>
          </a:p>
          <a:p>
            <a:r>
              <a:rPr lang="en-US" b="1" dirty="0"/>
              <a:t>Result</a:t>
            </a:r>
            <a:r>
              <a:rPr lang="en-US" dirty="0"/>
              <a:t>: 126 speeches → ~320 smaller “documents”.</a:t>
            </a:r>
          </a:p>
          <a:p>
            <a:r>
              <a:rPr lang="en-US" dirty="0"/>
              <a:t>Each chunk is now a more focused mini-speech.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7D925B-7F41-322E-00B3-5F05828F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99225"/>
              </p:ext>
            </p:extLst>
          </p:nvPr>
        </p:nvGraphicFramePr>
        <p:xfrm>
          <a:off x="3747208" y="2243976"/>
          <a:ext cx="7315101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367">
                  <a:extLst>
                    <a:ext uri="{9D8B030D-6E8A-4147-A177-3AD203B41FA5}">
                      <a16:colId xmlns:a16="http://schemas.microsoft.com/office/drawing/2014/main" val="353357635"/>
                    </a:ext>
                  </a:extLst>
                </a:gridCol>
                <a:gridCol w="2438367">
                  <a:extLst>
                    <a:ext uri="{9D8B030D-6E8A-4147-A177-3AD203B41FA5}">
                      <a16:colId xmlns:a16="http://schemas.microsoft.com/office/drawing/2014/main" val="902217531"/>
                    </a:ext>
                  </a:extLst>
                </a:gridCol>
                <a:gridCol w="2438367">
                  <a:extLst>
                    <a:ext uri="{9D8B030D-6E8A-4147-A177-3AD203B41FA5}">
                      <a16:colId xmlns:a16="http://schemas.microsoft.com/office/drawing/2014/main" val="2213660216"/>
                    </a:ext>
                  </a:extLst>
                </a:gridCol>
              </a:tblGrid>
              <a:tr h="373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Chunk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Likely Theme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875108"/>
                  </a:ext>
                </a:extLst>
              </a:tr>
              <a:tr h="947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“Our farmers are working hard this season.”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Agriculture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451580"/>
                  </a:ext>
                </a:extLst>
              </a:tr>
              <a:tr h="947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“Students across India have done well in exams.”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Education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745283"/>
                  </a:ext>
                </a:extLst>
              </a:tr>
              <a:tr h="660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“Yoga brings discipline to life.”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35043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6BE55-6587-6CEC-5916-714CABB7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8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92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3BCC-113F-3BF8-0BE0-804F23B6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sz="4000" b="1" dirty="0"/>
              <a:t>Topic Modeling with LDA (Latent Dirichlet Allocation)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F84C-A23D-4B1A-28C3-5EA0B29C5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dirty="0"/>
              <a:t>Latent Dirichlet Allocation (LDA)</a:t>
            </a:r>
            <a:r>
              <a:rPr lang="en-US" sz="2400" dirty="0"/>
              <a:t> is a probabilistic model that automatically finds hidden </a:t>
            </a:r>
            <a:r>
              <a:rPr lang="en-US" sz="2400" b="1" dirty="0"/>
              <a:t>topics</a:t>
            </a:r>
            <a:r>
              <a:rPr lang="en-US" sz="2400" dirty="0"/>
              <a:t> in a collection of documents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To uncover </a:t>
            </a:r>
            <a:r>
              <a:rPr lang="en-US" sz="2400" b="1" dirty="0"/>
              <a:t>hidden themes (topics)</a:t>
            </a:r>
            <a:r>
              <a:rPr lang="en-US" sz="2400" dirty="0"/>
              <a:t> that explain why certain words co-occur across speeches, </a:t>
            </a:r>
            <a:r>
              <a:rPr lang="en-US" sz="2400" i="1" dirty="0"/>
              <a:t>without</a:t>
            </a:r>
            <a:r>
              <a:rPr lang="en-US" sz="2400" dirty="0"/>
              <a:t> any human labeling.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LDA assumes that documents (chunks) are </a:t>
            </a:r>
            <a:r>
              <a:rPr lang="en-US" sz="2400" b="1" dirty="0"/>
              <a:t>mixtures of topics</a:t>
            </a:r>
            <a:r>
              <a:rPr lang="en-US" sz="2400" dirty="0"/>
              <a:t>, and each topic is a </a:t>
            </a:r>
            <a:r>
              <a:rPr lang="en-US" sz="2400" b="1" dirty="0"/>
              <a:t>distribution of words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8D9CC-1FCF-AA99-3F69-21FDC544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9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45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FD2BD-E4E6-B4D0-ACBD-D29E88E90F78}"/>
              </a:ext>
            </a:extLst>
          </p:cNvPr>
          <p:cNvSpPr txBox="1"/>
          <p:nvPr/>
        </p:nvSpPr>
        <p:spPr>
          <a:xfrm>
            <a:off x="1007165" y="658002"/>
            <a:ext cx="10005392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Formally, for every document </a:t>
            </a:r>
            <a:r>
              <a:rPr lang="en-IN" sz="2400" i="1" dirty="0"/>
              <a:t>d</a:t>
            </a:r>
            <a:r>
              <a:rPr lang="en-IN" sz="2400" dirty="0"/>
              <a:t> and topic </a:t>
            </a:r>
            <a:r>
              <a:rPr lang="en-IN" sz="2400" i="1" dirty="0"/>
              <a:t>k</a:t>
            </a:r>
            <a:r>
              <a:rPr lang="en-I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Each document </a:t>
            </a:r>
            <a:r>
              <a:rPr lang="en-IN" sz="2400" i="1" dirty="0"/>
              <a:t>d</a:t>
            </a:r>
            <a:r>
              <a:rPr lang="en-IN" sz="2400" dirty="0"/>
              <a:t> has a topic distribution </a:t>
            </a:r>
            <a:r>
              <a:rPr lang="el-GR" sz="2400" dirty="0"/>
              <a:t>θ</a:t>
            </a:r>
            <a:r>
              <a:rPr lang="en-IN" sz="2400" dirty="0"/>
              <a:t>ᵈ ~ Dirichlet( </a:t>
            </a:r>
            <a:r>
              <a:rPr lang="el-GR" sz="2400" dirty="0"/>
              <a:t>α ).</a:t>
            </a:r>
            <a:br>
              <a:rPr lang="el-GR" sz="2400" dirty="0"/>
            </a:br>
            <a:r>
              <a:rPr lang="el-GR" sz="2400" dirty="0"/>
              <a:t>  → θ</a:t>
            </a:r>
            <a:r>
              <a:rPr lang="en-IN" sz="2400" dirty="0"/>
              <a:t>ᵈ = [P( z₁ | d ), P( z₂ | d ), …, P( </a:t>
            </a:r>
            <a:r>
              <a:rPr lang="en-IN" sz="2400" dirty="0" err="1"/>
              <a:t>z_K</a:t>
            </a:r>
            <a:r>
              <a:rPr lang="en-IN" sz="2400" dirty="0"/>
              <a:t> | d )]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Each topic </a:t>
            </a:r>
            <a:r>
              <a:rPr lang="en-IN" sz="2400" i="1" dirty="0"/>
              <a:t>k</a:t>
            </a:r>
            <a:r>
              <a:rPr lang="en-IN" sz="2400" dirty="0"/>
              <a:t> has a word distribution </a:t>
            </a:r>
            <a:r>
              <a:rPr lang="el-GR" sz="2400" dirty="0"/>
              <a:t>ϕ</a:t>
            </a:r>
            <a:r>
              <a:rPr lang="en-IN" sz="2400" dirty="0"/>
              <a:t>ᵏ ~ Dirichlet( </a:t>
            </a:r>
            <a:r>
              <a:rPr lang="el-GR" sz="2400" dirty="0"/>
              <a:t>β ).</a:t>
            </a:r>
            <a:br>
              <a:rPr lang="el-GR" sz="2400" dirty="0"/>
            </a:br>
            <a:r>
              <a:rPr lang="el-GR" sz="2400" dirty="0"/>
              <a:t>  → ϕ</a:t>
            </a:r>
            <a:r>
              <a:rPr lang="en-IN" sz="2400" dirty="0"/>
              <a:t>ᵏ = [P( w₁ | </a:t>
            </a:r>
            <a:r>
              <a:rPr lang="en-IN" sz="2400" dirty="0" err="1"/>
              <a:t>z_k</a:t>
            </a:r>
            <a:r>
              <a:rPr lang="en-IN" sz="2400" dirty="0"/>
              <a:t> ), P( w₂ | </a:t>
            </a:r>
            <a:r>
              <a:rPr lang="en-IN" sz="2400" dirty="0" err="1"/>
              <a:t>z_k</a:t>
            </a:r>
            <a:r>
              <a:rPr lang="en-IN" sz="2400" dirty="0"/>
              <a:t> ), …, P( </a:t>
            </a:r>
            <a:r>
              <a:rPr lang="en-IN" sz="2400" dirty="0" err="1"/>
              <a:t>w_V</a:t>
            </a:r>
            <a:r>
              <a:rPr lang="en-IN" sz="2400" dirty="0"/>
              <a:t> | </a:t>
            </a:r>
            <a:r>
              <a:rPr lang="en-IN" sz="2400" dirty="0" err="1"/>
              <a:t>z_k</a:t>
            </a:r>
            <a:r>
              <a:rPr lang="en-IN" sz="2400" dirty="0"/>
              <a:t> )]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For each word wᵢ in document d:</a:t>
            </a:r>
            <a:br>
              <a:rPr lang="en-IN" sz="2400" dirty="0"/>
            </a:br>
            <a:r>
              <a:rPr lang="en-IN" sz="2400" dirty="0"/>
              <a:t>  a. Select a topic zᵢ ~ Multinomial( </a:t>
            </a:r>
            <a:r>
              <a:rPr lang="el-GR" sz="2400" dirty="0"/>
              <a:t>θ</a:t>
            </a:r>
            <a:r>
              <a:rPr lang="en-IN" sz="2400" dirty="0"/>
              <a:t>ᵈ )</a:t>
            </a:r>
            <a:br>
              <a:rPr lang="en-IN" sz="2400" dirty="0"/>
            </a:br>
            <a:r>
              <a:rPr lang="en-IN" sz="2400" dirty="0"/>
              <a:t>  b. Select a word wᵢ ~ Multinomial( </a:t>
            </a:r>
            <a:r>
              <a:rPr lang="el-GR" sz="2400" dirty="0"/>
              <a:t>ϕ^{</a:t>
            </a:r>
            <a:r>
              <a:rPr lang="en-IN" sz="2400" dirty="0"/>
              <a:t>zᵢ} 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That’s why it’s called </a:t>
            </a:r>
            <a:r>
              <a:rPr lang="en-IN" sz="2400" b="1" dirty="0"/>
              <a:t>Latent Dirichlet Allocation</a:t>
            </a:r>
            <a:r>
              <a:rPr lang="en-IN" sz="2400" dirty="0"/>
              <a:t> — the hidden variable (latent) is the topic </a:t>
            </a:r>
            <a:r>
              <a:rPr lang="en-IN" sz="2400" i="1" dirty="0"/>
              <a:t>z</a:t>
            </a:r>
            <a:r>
              <a:rPr lang="en-IN" sz="2400" dirty="0"/>
              <a:t>, and both </a:t>
            </a:r>
            <a:r>
              <a:rPr lang="el-GR" sz="2400" dirty="0"/>
              <a:t>θ </a:t>
            </a:r>
            <a:r>
              <a:rPr lang="en-IN" sz="2400" dirty="0"/>
              <a:t>and </a:t>
            </a:r>
            <a:r>
              <a:rPr lang="el-GR" sz="2400" dirty="0"/>
              <a:t>ϕ </a:t>
            </a:r>
            <a:r>
              <a:rPr lang="en-IN" sz="2400" dirty="0"/>
              <a:t>follow Dirichlet distributions.</a:t>
            </a:r>
          </a:p>
          <a:p>
            <a:pPr>
              <a:lnSpc>
                <a:spcPct val="150000"/>
              </a:lnSpc>
            </a:pPr>
            <a:endParaRPr lang="ar-AE" sz="2400" b="0" dirty="0"/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9D0D5-9D5F-ECAE-E0F0-E646F901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10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88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9BC30A-735D-735E-E5B0-D92980DC230A}"/>
                  </a:ext>
                </a:extLst>
              </p:cNvPr>
              <p:cNvSpPr txBox="1"/>
              <p:nvPr/>
            </p:nvSpPr>
            <p:spPr>
              <a:xfrm>
                <a:off x="437321" y="335699"/>
                <a:ext cx="9475305" cy="5647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/>
                  <a:t>LDA as a </a:t>
                </a:r>
                <a:r>
                  <a:rPr lang="en-IN" sz="2400" b="1" dirty="0"/>
                  <a:t>finite mixture model</a:t>
                </a:r>
                <a:r>
                  <a:rPr lang="en-IN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sz="2400" i="1"/>
                      <m:t> 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IN" sz="2400" b="0" dirty="0"/>
                  <a:t>  </a:t>
                </a:r>
                <a:r>
                  <a:rPr lang="en-US" sz="2400" dirty="0"/>
                  <a:t>where </a:t>
                </a:r>
                <a:r>
                  <a:rPr lang="en-US" sz="2400" i="1" dirty="0"/>
                  <a:t>K</a:t>
                </a:r>
                <a:r>
                  <a:rPr lang="en-US" sz="2400" dirty="0"/>
                  <a:t> = number of topics.</a:t>
                </a:r>
              </a:p>
              <a:p>
                <a:r>
                  <a:rPr lang="en-US" sz="2400" dirty="0"/>
                  <a:t>The algorithm estimates θ and ϕ iteratively until stable.</a:t>
                </a:r>
              </a:p>
              <a:p>
                <a:r>
                  <a:rPr lang="en-IN" sz="2400" b="1" dirty="0"/>
                  <a:t>Choosing </a:t>
                </a:r>
                <a:r>
                  <a:rPr lang="en-IN" sz="2400" b="1" i="1" dirty="0"/>
                  <a:t>K: </a:t>
                </a:r>
                <a:r>
                  <a:rPr lang="en-IN" sz="2400" dirty="0"/>
                  <a:t>I</a:t>
                </a:r>
                <a:r>
                  <a:rPr lang="en-IN" sz="2400" b="1" i="1" dirty="0"/>
                  <a:t> </a:t>
                </a:r>
                <a:r>
                  <a:rPr lang="en-US" sz="2400" dirty="0"/>
                  <a:t>trained several LDA models with </a:t>
                </a:r>
                <a:r>
                  <a:rPr lang="en-US" sz="2400" i="1" dirty="0"/>
                  <a:t>K = 6 to 9</a:t>
                </a:r>
                <a:r>
                  <a:rPr lang="en-US" sz="2400" dirty="0"/>
                  <a:t> and evaluated them using the </a:t>
                </a:r>
                <a:r>
                  <a:rPr lang="en-US" sz="2400" b="1" dirty="0"/>
                  <a:t>Coherence Score</a:t>
                </a:r>
                <a:r>
                  <a:rPr lang="en-US" sz="2400" dirty="0"/>
                  <a:t>.</a:t>
                </a:r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Coherence measures how semantically related the top words of each topic are — similar to a model-fit index (high = interpretable).</a:t>
                </a:r>
                <a:br>
                  <a:rPr lang="en-US" sz="2400" dirty="0"/>
                </a:br>
                <a:r>
                  <a:rPr lang="en-US" sz="2400" dirty="0"/>
                  <a:t>Hence </a:t>
                </a:r>
                <a:r>
                  <a:rPr lang="en-US" sz="2400" b="1" dirty="0"/>
                  <a:t>K = 6</a:t>
                </a:r>
                <a:r>
                  <a:rPr lang="en-US" sz="2400" dirty="0"/>
                  <a:t> was chosen.</a:t>
                </a:r>
                <a:endParaRPr lang="ar-AE" sz="2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9BC30A-735D-735E-E5B0-D92980DC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1" y="335699"/>
                <a:ext cx="9475305" cy="5647123"/>
              </a:xfrm>
              <a:prstGeom prst="rect">
                <a:avLst/>
              </a:prstGeom>
              <a:blipFill>
                <a:blip r:embed="rId3"/>
                <a:stretch>
                  <a:fillRect l="-1030" t="-3996" r="-837" b="-16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552595-15DD-C649-C6DC-C40E339A4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22294"/>
              </p:ext>
            </p:extLst>
          </p:nvPr>
        </p:nvGraphicFramePr>
        <p:xfrm>
          <a:off x="1110973" y="2286000"/>
          <a:ext cx="8128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601392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59853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Coherence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092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0.3536  (best)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97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0.3492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766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0.3327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0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0.3353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6299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1CD3-7AC7-DED2-EFD1-A9E210B9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11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28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52BDB-0394-28B8-FFDD-FA51A3D04033}"/>
              </a:ext>
            </a:extLst>
          </p:cNvPr>
          <p:cNvSpPr txBox="1"/>
          <p:nvPr/>
        </p:nvSpPr>
        <p:spPr>
          <a:xfrm>
            <a:off x="702365" y="532248"/>
            <a:ext cx="10363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trained model produced six sets of top words.</a:t>
            </a:r>
            <a:br>
              <a:rPr lang="en-US" sz="2400" dirty="0"/>
            </a:br>
            <a:r>
              <a:rPr lang="en-US" sz="2400" dirty="0"/>
              <a:t>Below each group is your interpretation based on meaning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B87BF6-FAF5-BEB4-E0D4-D1886094A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972177"/>
              </p:ext>
            </p:extLst>
          </p:nvPr>
        </p:nvGraphicFramePr>
        <p:xfrm>
          <a:off x="885338" y="1640244"/>
          <a:ext cx="10604298" cy="3921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55427">
                  <a:extLst>
                    <a:ext uri="{9D8B030D-6E8A-4147-A177-3AD203B41FA5}">
                      <a16:colId xmlns:a16="http://schemas.microsoft.com/office/drawing/2014/main" val="4087945877"/>
                    </a:ext>
                  </a:extLst>
                </a:gridCol>
                <a:gridCol w="4253948">
                  <a:extLst>
                    <a:ext uri="{9D8B030D-6E8A-4147-A177-3AD203B41FA5}">
                      <a16:colId xmlns:a16="http://schemas.microsoft.com/office/drawing/2014/main" val="56391099"/>
                    </a:ext>
                  </a:extLst>
                </a:gridCol>
                <a:gridCol w="4094923">
                  <a:extLst>
                    <a:ext uri="{9D8B030D-6E8A-4147-A177-3AD203B41FA5}">
                      <a16:colId xmlns:a16="http://schemas.microsoft.com/office/drawing/2014/main" val="1856802202"/>
                    </a:ext>
                  </a:extLst>
                </a:gridCol>
              </a:tblGrid>
              <a:tr h="371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Top Words (approx.)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Interpreted Theme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592586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yoga, sports, games, students, 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Sports / Youth / Education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124938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freedom, unity, service, farmers, guru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Patriotism / Social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227921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prime, minister, water, vaccine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Leadership / Health /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974972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farmers, nation, cleanliness, exams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Education / Farmers / Citizens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935624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doctor, organ, donation, bharat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Health / Organ Donation / Awareness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300782"/>
                  </a:ext>
                </a:extLst>
              </a:tr>
              <a:tr h="58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women, cleanliness, festival, 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Women Empowerment / Culture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4089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35114F-7BFA-539C-DB26-8398DCB8C6C5}"/>
              </a:ext>
            </a:extLst>
          </p:cNvPr>
          <p:cNvSpPr txBox="1"/>
          <p:nvPr/>
        </p:nvSpPr>
        <p:spPr>
          <a:xfrm>
            <a:off x="885338" y="5655653"/>
            <a:ext cx="9650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These six “latent topics” capture the </a:t>
            </a:r>
            <a:r>
              <a:rPr lang="en-US" sz="2400" b="1" dirty="0"/>
              <a:t>semantic structure</a:t>
            </a:r>
            <a:r>
              <a:rPr lang="en-US" sz="2400" dirty="0"/>
              <a:t> of all 126 speeches.</a:t>
            </a:r>
            <a:endParaRPr lang="en-IN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E0DF3-1207-7316-B607-130C2A90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12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57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25EA17-F863-3718-E0DF-0A61BE684D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764"/>
            <a:ext cx="12192000" cy="68887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F935-52DC-4514-8885-A651FD51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87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62FE-AB72-12F4-6AE3-BE1179BC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Connecting Topics to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FCE8F-B472-9622-33CF-13F8C3B59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I have arranged speeches by date.</a:t>
            </a:r>
            <a:br>
              <a:rPr lang="en-US" sz="2400" dirty="0"/>
            </a:br>
            <a:r>
              <a:rPr lang="en-US" sz="2400" dirty="0"/>
              <a:t>For each episode you know its </a:t>
            </a:r>
            <a:r>
              <a:rPr lang="en-US" sz="2400" b="1" dirty="0"/>
              <a:t>dominant topic</a:t>
            </a:r>
            <a:r>
              <a:rPr lang="en-US" sz="2400" dirty="0"/>
              <a:t> (the one with the highest probability).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Now We can see a timeline of topics: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2400" dirty="0"/>
              <a:t>Education → Health → Education → Women → Education …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I want to </a:t>
            </a:r>
            <a:r>
              <a:rPr lang="en-US" sz="2400" b="1" dirty="0"/>
              <a:t>model how topics change from one speech to the next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That’s where the </a:t>
            </a:r>
            <a:r>
              <a:rPr lang="en-US" sz="2400" b="1" dirty="0"/>
              <a:t>Markov Chain</a:t>
            </a:r>
            <a:r>
              <a:rPr lang="en-US" sz="2400" dirty="0"/>
              <a:t> comes in.</a:t>
            </a: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849CD-AD30-8581-7277-CF80A8DC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14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087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9BEE-AD98-5BCD-F620-7B8AC2E9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748" y="414304"/>
            <a:ext cx="10515600" cy="1325563"/>
          </a:xfrm>
        </p:spPr>
        <p:txBody>
          <a:bodyPr/>
          <a:lstStyle/>
          <a:p>
            <a:r>
              <a:rPr lang="en-IN" dirty="0"/>
              <a:t>Markov Chain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074D-E234-FBA0-0964-FDC2A0666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748" y="2122055"/>
            <a:ext cx="10515600" cy="4944144"/>
          </a:xfrm>
        </p:spPr>
        <p:txBody>
          <a:bodyPr>
            <a:normAutofit/>
          </a:bodyPr>
          <a:lstStyle/>
          <a:p>
            <a:r>
              <a:rPr lang="en-US" sz="2400" dirty="0"/>
              <a:t>A Markov chain says:</a:t>
            </a:r>
          </a:p>
          <a:p>
            <a:r>
              <a:rPr lang="en-US" sz="2400" dirty="0"/>
              <a:t>“The next state depends only on the current state.”</a:t>
            </a:r>
          </a:p>
          <a:p>
            <a:r>
              <a:rPr lang="en-US" sz="2400" dirty="0"/>
              <a:t>Here,</a:t>
            </a:r>
            <a:br>
              <a:rPr lang="en-US" sz="2400" dirty="0"/>
            </a:br>
            <a:r>
              <a:rPr lang="en-US" sz="2400" dirty="0"/>
              <a:t>State = Topic number.</a:t>
            </a:r>
          </a:p>
          <a:p>
            <a:r>
              <a:rPr lang="en-US" sz="2400" dirty="0"/>
              <a:t>If one speech’s main theme is Education, what’s the probability the next will be Health?</a:t>
            </a:r>
          </a:p>
          <a:p>
            <a:r>
              <a:rPr lang="en-US" sz="2400" dirty="0"/>
              <a:t>We wanted to see </a:t>
            </a:r>
            <a:r>
              <a:rPr lang="en-US" sz="2400" b="1" dirty="0"/>
              <a:t>how topics change from one episode to the next.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5466A-CE4C-2A92-8AA5-A35FDED9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15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60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81FF-D0C3-7C3E-8A99-22F18B8F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27" y="-283240"/>
            <a:ext cx="11333259" cy="1450757"/>
          </a:xfrm>
        </p:spPr>
        <p:txBody>
          <a:bodyPr>
            <a:normAutofit/>
          </a:bodyPr>
          <a:lstStyle/>
          <a:p>
            <a:r>
              <a:rPr lang="en-US" sz="2800" dirty="0"/>
              <a:t>I have counted all observed topic pairs and normalized them into probabilities.</a:t>
            </a:r>
            <a:endParaRPr lang="en-IN" sz="28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96578-765F-D5E3-2489-D023BB5A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4420"/>
            <a:ext cx="12192000" cy="52035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EBE94-95E2-532B-18EC-CF454C98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8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DAF616-3A16-0EDD-7FCF-0317EBE0AD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91" y="1645844"/>
            <a:ext cx="11516139" cy="46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C76D2-CD0B-C821-3E95-6A4912F90801}"/>
              </a:ext>
            </a:extLst>
          </p:cNvPr>
          <p:cNvSpPr txBox="1"/>
          <p:nvPr/>
        </p:nvSpPr>
        <p:spPr>
          <a:xfrm>
            <a:off x="797223" y="570541"/>
            <a:ext cx="7207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Topic Trends Over Episodes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59F0-D213-42CE-9E52-22E8D946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17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585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FE12-21AC-FC31-F590-6BD5600B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879" y="376063"/>
            <a:ext cx="10515600" cy="1325563"/>
          </a:xfrm>
        </p:spPr>
        <p:txBody>
          <a:bodyPr/>
          <a:lstStyle/>
          <a:p>
            <a:r>
              <a:rPr lang="en-IN" dirty="0"/>
              <a:t>Stationary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C7F3C-E694-6A21-D786-CFFB6DEDE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770" y="1918775"/>
            <a:ext cx="11459817" cy="5759116"/>
          </a:xfrm>
        </p:spPr>
        <p:txBody>
          <a:bodyPr>
            <a:normAutofit/>
          </a:bodyPr>
          <a:lstStyle/>
          <a:p>
            <a:r>
              <a:rPr lang="en-US" dirty="0"/>
              <a:t>A Markov chain can reach equilibrium — after many steps, the proportion of time spent in each topic stabilizes.</a:t>
            </a:r>
          </a:p>
          <a:p>
            <a:r>
              <a:rPr lang="en-US" dirty="0"/>
              <a:t>Shows long-run proportion of time spent in each topic.</a:t>
            </a:r>
            <a:br>
              <a:rPr lang="en-US" dirty="0"/>
            </a:br>
            <a:r>
              <a:rPr lang="en-US" dirty="0"/>
              <a:t>That vector π satisfies πP = π,</a:t>
            </a:r>
            <a:r>
              <a:rPr lang="el-GR" dirty="0"/>
              <a:t> ∑​π</a:t>
            </a:r>
            <a:r>
              <a:rPr lang="en-IN" dirty="0" err="1"/>
              <a:t>i</a:t>
            </a:r>
            <a:r>
              <a:rPr lang="en-IN" dirty="0"/>
              <a:t>​=1</a:t>
            </a:r>
            <a:endParaRPr lang="en-US" dirty="0"/>
          </a:p>
          <a:p>
            <a:r>
              <a:rPr lang="en-IN" dirty="0"/>
              <a:t>Result:</a:t>
            </a:r>
            <a:r>
              <a:rPr lang="en-US" dirty="0"/>
              <a:t> </a:t>
            </a:r>
            <a:r>
              <a:rPr lang="el-GR" dirty="0"/>
              <a:t>π = [0.0023, 0.0023, 0.0023, 0.9885, 0.0023, 0.0023]</a:t>
            </a:r>
          </a:p>
          <a:p>
            <a:r>
              <a:rPr lang="en-US" b="1" dirty="0"/>
              <a:t>Interpretation:</a:t>
            </a:r>
          </a:p>
          <a:p>
            <a:r>
              <a:rPr lang="en-US" b="1" dirty="0"/>
              <a:t>Topic 3 dominates (~99 %)</a:t>
            </a:r>
            <a:endParaRPr lang="en-US" dirty="0"/>
          </a:p>
          <a:p>
            <a:r>
              <a:rPr lang="en-US" dirty="0"/>
              <a:t>Others appear rarely (~0.2 %)</a:t>
            </a:r>
          </a:p>
          <a:p>
            <a:r>
              <a:rPr lang="en-US" dirty="0"/>
              <a:t>Return time = 1/πᵢ:It gives a </a:t>
            </a:r>
            <a:r>
              <a:rPr lang="en-US" i="1" dirty="0"/>
              <a:t>temporal interpretation</a:t>
            </a:r>
            <a:r>
              <a:rPr lang="en-US" dirty="0"/>
              <a:t> — how quickly the system revisits each theme.</a:t>
            </a:r>
            <a:br>
              <a:rPr lang="en-US" dirty="0"/>
            </a:br>
            <a:r>
              <a:rPr lang="en-US" dirty="0"/>
              <a:t>Topic 3 ≈ </a:t>
            </a:r>
            <a:r>
              <a:rPr lang="en-IN" dirty="0"/>
              <a:t>reappear </a:t>
            </a:r>
            <a:r>
              <a:rPr lang="en-US" dirty="0"/>
              <a:t>every 1 speech, others ≈</a:t>
            </a:r>
            <a:r>
              <a:rPr lang="en-IN" dirty="0"/>
              <a:t>reappear </a:t>
            </a:r>
            <a:r>
              <a:rPr lang="en-US" dirty="0"/>
              <a:t>every 435 speeches.</a:t>
            </a:r>
          </a:p>
          <a:p>
            <a:r>
              <a:rPr lang="en-US" dirty="0"/>
              <a:t>Hence Education and Civic issues are the </a:t>
            </a:r>
            <a:r>
              <a:rPr lang="en-US" b="1" dirty="0"/>
              <a:t>core recurring theme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94971-D9F9-9D1E-EBAE-CF0A6C18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18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48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3FA8-25ED-03D4-7476-D7A69944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95" y="3843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Absorbing and Near-Absorbing State Behavior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CDC55-A767-69A4-A9CD-08672E780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6369" y="1876183"/>
                <a:ext cx="10515600" cy="5131427"/>
              </a:xfrm>
            </p:spPr>
            <p:txBody>
              <a:bodyPr>
                <a:normAutofit/>
              </a:bodyPr>
              <a:lstStyle/>
              <a:p>
                <a:r>
                  <a:rPr lang="en-IN" sz="2200" dirty="0"/>
                  <a:t>An </a:t>
                </a:r>
                <a:r>
                  <a:rPr lang="en-IN" sz="2200" b="1" dirty="0"/>
                  <a:t>absorbing state</a:t>
                </a:r>
                <a:r>
                  <a:rPr lang="en-IN" sz="2200" dirty="0"/>
                  <a:t> in a Markov chain is one that, once entered, cannot be left: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200" i="1"/>
                      <m:t>  </m:t>
                    </m:r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ar-AE" sz="2200" i="1"/>
                      <m:t>  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ar-AE" sz="2200" b="0" dirty="0"/>
              </a:p>
              <a:p>
                <a:r>
                  <a:rPr lang="en-IN" sz="2200" dirty="0"/>
                  <a:t>A </a:t>
                </a:r>
                <a:r>
                  <a:rPr lang="en-IN" sz="2200" b="1" dirty="0"/>
                  <a:t>near-absorbing state</a:t>
                </a:r>
                <a:r>
                  <a:rPr lang="en-IN" sz="2200" dirty="0"/>
                  <a:t> behaves similarly,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200" dirty="0"/>
                  <a:t>, </a:t>
                </a:r>
                <a:r>
                  <a:rPr lang="en-IN" sz="2200" dirty="0"/>
                  <a:t>meaning the process tends to stay there.</a:t>
                </a:r>
              </a:p>
              <a:p>
                <a:r>
                  <a:rPr lang="en-US" sz="2200" b="1" dirty="0"/>
                  <a:t>Interpretation</a:t>
                </a:r>
              </a:p>
              <a:p>
                <a:r>
                  <a:rPr lang="en-US" sz="2200" dirty="0"/>
                  <a:t>No topic is </a:t>
                </a:r>
                <a:r>
                  <a:rPr lang="en-US" sz="2200" i="1" dirty="0"/>
                  <a:t>mathematically absorbing</a:t>
                </a:r>
                <a:r>
                  <a:rPr lang="en-US" sz="2200" dirty="0"/>
                  <a:t> (the PM doesn’t speak about only one subject forever).</a:t>
                </a:r>
              </a:p>
              <a:p>
                <a:r>
                  <a:rPr lang="en-US" sz="2200" dirty="0"/>
                  <a:t>However, Topic 3 acts as a </a:t>
                </a:r>
                <a:r>
                  <a:rPr lang="en-US" sz="2200" b="1" dirty="0"/>
                  <a:t>practically absorbing theme</a:t>
                </a:r>
                <a:r>
                  <a:rPr lang="en-US" sz="2200" dirty="0"/>
                  <a:t> — once speeches move to Education/Citizen issues, they tend to stay there for many episodes.</a:t>
                </a:r>
              </a:p>
              <a:p>
                <a:r>
                  <a:rPr lang="en-US" sz="2200" dirty="0"/>
                  <a:t>This reinforces the idea that </a:t>
                </a:r>
                <a:r>
                  <a:rPr lang="en-US" sz="2200" b="1" dirty="0"/>
                  <a:t>Education and Civic Development</a:t>
                </a:r>
                <a:r>
                  <a:rPr lang="en-US" sz="2200" dirty="0"/>
                  <a:t> form the long-term backbone of Mann Ki Baat.</a:t>
                </a:r>
              </a:p>
              <a:p>
                <a:endParaRPr lang="en-IN" sz="2200" dirty="0"/>
              </a:p>
              <a:p>
                <a:endParaRPr lang="en-IN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CDC55-A767-69A4-A9CD-08672E780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6369" y="1876183"/>
                <a:ext cx="10515600" cy="5131427"/>
              </a:xfrm>
              <a:blipFill>
                <a:blip r:embed="rId3"/>
                <a:stretch>
                  <a:fillRect l="-754" t="-15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36FEC-30FF-C023-37BB-C341FB63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19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81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75B489-8B65-F6A1-8605-B4AF5A887243}"/>
                  </a:ext>
                </a:extLst>
              </p:cNvPr>
              <p:cNvSpPr txBox="1"/>
              <p:nvPr/>
            </p:nvSpPr>
            <p:spPr>
              <a:xfrm>
                <a:off x="172278" y="1292885"/>
                <a:ext cx="11873948" cy="4309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The </a:t>
                </a:r>
                <a:r>
                  <a:rPr lang="en-IN" sz="2000" b="1" dirty="0"/>
                  <a:t>Mean First Passage Time (MFPT)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sz="2000" dirty="0"/>
                  <a:t>is the </a:t>
                </a:r>
                <a:r>
                  <a:rPr lang="en-IN" sz="2000" i="1" dirty="0"/>
                  <a:t>expected number of steps to reach topic j for the first time starting from topic </a:t>
                </a:r>
                <a:r>
                  <a:rPr lang="en-IN" sz="2000" i="1" dirty="0" err="1"/>
                  <a:t>i</a:t>
                </a:r>
                <a:r>
                  <a:rPr lang="en-IN" sz="2000" i="1" dirty="0"/>
                  <a:t>.</a:t>
                </a:r>
                <a:endParaRPr lang="en-IN" sz="2000" dirty="0"/>
              </a:p>
              <a:p>
                <a:r>
                  <a:rPr lang="en-IN" sz="2000" dirty="0"/>
                  <a:t>It’s computed by solving: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/>
                      <m:t>E</m:t>
                    </m:r>
                    <m:r>
                      <m:rPr>
                        <m:nor/>
                      </m:rPr>
                      <a:rPr lang="en-IN" sz="2000"/>
                      <m:t>[</m:t>
                    </m:r>
                    <m:r>
                      <m:rPr>
                        <m:nor/>
                      </m:rPr>
                      <a:rPr lang="en-IN" sz="2000"/>
                      <m:t>Tj</m:t>
                    </m:r>
                    <m:r>
                      <m:rPr>
                        <m:nor/>
                      </m:rPr>
                      <a:rPr lang="en-IN" sz="2000"/>
                      <m:t>​</m:t>
                    </m:r>
                    <m:r>
                      <m:rPr>
                        <m:nor/>
                      </m:rPr>
                      <a:rPr lang="en-IN" sz="2000"/>
                      <m:t>∣</m:t>
                    </m:r>
                    <m:r>
                      <m:rPr>
                        <m:nor/>
                      </m:rPr>
                      <a:rPr lang="en-IN" sz="2000"/>
                      <m:t>X</m:t>
                    </m:r>
                    <m:r>
                      <m:rPr>
                        <m:nor/>
                      </m:rPr>
                      <a:rPr lang="en-IN" sz="2000"/>
                      <m:t>0​</m:t>
                    </m:r>
                    <m:r>
                      <m:rPr>
                        <m:nor/>
                      </m:rPr>
                      <a:rPr lang="en-IN" sz="2000"/>
                      <m:t>=</m:t>
                    </m:r>
                    <m:r>
                      <m:rPr>
                        <m:nor/>
                      </m:rPr>
                      <a:rPr lang="en-IN" sz="2000"/>
                      <m:t>i</m:t>
                    </m:r>
                    <m:r>
                      <m:rPr>
                        <m:nor/>
                      </m:rPr>
                      <a:rPr lang="en-IN" sz="2000"/>
                      <m:t>]</m:t>
                    </m:r>
                  </m:oMath>
                </a14:m>
                <a:r>
                  <a:rPr lang="en-US" sz="2000" dirty="0"/>
                  <a:t>           Where </a:t>
                </a:r>
                <a:r>
                  <a:rPr lang="en-IN" sz="2000" dirty="0"/>
                  <a:t>Tj​=min{t≥1:Xt​=j}</a:t>
                </a:r>
                <a:endParaRPr lang="en-US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/>
                        <m:t>= 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sz="2000" i="1"/>
                        <m:t> 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𝑗𝑗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IN" sz="2000" dirty="0"/>
                  <a:t>--- Mean First Passage Time (MFPT) matrix (rows = start topic </a:t>
                </a:r>
                <a:r>
                  <a:rPr lang="en-IN" sz="2000" dirty="0" err="1"/>
                  <a:t>i</a:t>
                </a:r>
                <a:r>
                  <a:rPr lang="en-IN" sz="2000" dirty="0"/>
                  <a:t>, cols = target topic j) ---</a:t>
                </a:r>
              </a:p>
              <a:p>
                <a:r>
                  <a:rPr lang="en-IN" sz="2000" dirty="0"/>
                  <a:t>             0              1             2          3       4            5</a:t>
                </a:r>
              </a:p>
              <a:p>
                <a:r>
                  <a:rPr lang="en-IN" sz="2000" dirty="0"/>
                  <a:t> 0 |    0.0        343.4     338.4    2.3   435.5    341.6   | 0Sports / Education / Youth</a:t>
                </a:r>
              </a:p>
              <a:p>
                <a:r>
                  <a:rPr lang="en-IN" sz="2000" dirty="0"/>
                  <a:t> 1 |  527.5          0.0      430.5    1.3   527.6   433.7   | 1Unity / Patriotism / Social Service</a:t>
                </a:r>
              </a:p>
              <a:p>
                <a:r>
                  <a:rPr lang="en-IN" sz="2000" dirty="0"/>
                  <a:t> 2 |  532.5      440.6         0.0    1.2   532.7    438.7   | 2Leadership / Health / Communication</a:t>
                </a:r>
              </a:p>
              <a:p>
                <a:r>
                  <a:rPr lang="en-IN" sz="2000" dirty="0"/>
                  <a:t> 3 |  549.7      457.7     452.7    0.0   549.8    455.9   | 3Education / Farmers / Citizens Issues</a:t>
                </a:r>
              </a:p>
              <a:p>
                <a:r>
                  <a:rPr lang="en-IN" sz="2000" dirty="0"/>
                  <a:t> 4 |  435.4      343.4     338.4    2.3       0.0    341.6   | 4Healthcare / Organ Donation / Awareness</a:t>
                </a:r>
              </a:p>
              <a:p>
                <a:r>
                  <a:rPr lang="en-IN" sz="2000" dirty="0"/>
                  <a:t> 5 |  529.2      437.2     432.2    1.2    529.3       0.0   | Women Empowerment / Cleanliness / Culture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75B489-8B65-F6A1-8605-B4AF5A887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" y="1292885"/>
                <a:ext cx="11873948" cy="4309000"/>
              </a:xfrm>
              <a:prstGeom prst="rect">
                <a:avLst/>
              </a:prstGeom>
              <a:blipFill>
                <a:blip r:embed="rId3"/>
                <a:stretch>
                  <a:fillRect l="-513" t="-566" b="-1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0F0529-3D6C-95BF-455F-0347237663A9}"/>
              </a:ext>
            </a:extLst>
          </p:cNvPr>
          <p:cNvSpPr txBox="1"/>
          <p:nvPr/>
        </p:nvSpPr>
        <p:spPr>
          <a:xfrm>
            <a:off x="172278" y="523444"/>
            <a:ext cx="87729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</a:rPr>
              <a:t>Mean First Passage Time (MFPT)</a:t>
            </a:r>
            <a:endParaRPr lang="en-IN" sz="4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F49EA-5175-66C0-82E5-9C89D6C6473C}"/>
              </a:ext>
            </a:extLst>
          </p:cNvPr>
          <p:cNvSpPr txBox="1"/>
          <p:nvPr/>
        </p:nvSpPr>
        <p:spPr>
          <a:xfrm>
            <a:off x="145774" y="5626670"/>
            <a:ext cx="12178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Interpretation : </a:t>
            </a:r>
            <a:r>
              <a:rPr lang="en-US" sz="2000" dirty="0"/>
              <a:t>Regardless of the starting topic, the speech sequence tends to return to </a:t>
            </a:r>
            <a:r>
              <a:rPr lang="en-US" sz="2000" b="1" dirty="0"/>
              <a:t>Education/Citizen issues</a:t>
            </a:r>
            <a:r>
              <a:rPr lang="en-US" sz="2000" dirty="0"/>
              <a:t> within 1–2 speeches, confirming its central position.</a:t>
            </a:r>
            <a:endParaRPr lang="en-IN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4E6F1-657A-374B-EAD7-03FA43BC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09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E269-E25B-BD35-33F4-2696F2D7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514" y="8928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Entropy Rate of the Markov Chain</a:t>
            </a:r>
            <a:br>
              <a:rPr lang="en-US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E1CFB-FD28-7D74-4624-662DB178C2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886" y="1912998"/>
                <a:ext cx="11579087" cy="4754469"/>
              </a:xfrm>
            </p:spPr>
            <p:txBody>
              <a:bodyPr>
                <a:normAutofit/>
              </a:bodyPr>
              <a:lstStyle/>
              <a:p>
                <a:r>
                  <a:rPr lang="en-IN" sz="2200" dirty="0"/>
                  <a:t>The </a:t>
                </a:r>
                <a:r>
                  <a:rPr lang="en-IN" sz="2200" b="1" dirty="0"/>
                  <a:t>entropy rate</a:t>
                </a:r>
                <a:r>
                  <a:rPr lang="en-IN" sz="2200" dirty="0"/>
                  <a:t> measures how </a:t>
                </a:r>
                <a:r>
                  <a:rPr lang="en-IN" sz="2200" i="1" dirty="0"/>
                  <a:t>unpredictable</a:t>
                </a:r>
                <a:r>
                  <a:rPr lang="en-IN" sz="2200" dirty="0"/>
                  <a:t> the transitions are.</a:t>
                </a:r>
              </a:p>
              <a:p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ar-AE" sz="2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ar-AE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sz="2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</m:func>
                          </m:e>
                          <m:sub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ar-AE" sz="2200" dirty="0"/>
              </a:p>
              <a:p>
                <a:r>
                  <a:rPr lang="en-IN" sz="2200" dirty="0"/>
                  <a:t>Result:</a:t>
                </a:r>
              </a:p>
              <a:p>
                <a:r>
                  <a:rPr lang="en-IN" sz="2200" dirty="0"/>
                  <a:t>Entropy rate = 0.092932 bits per step  (≈ 0.064415 </a:t>
                </a:r>
                <a:r>
                  <a:rPr lang="en-IN" sz="2200" dirty="0" err="1"/>
                  <a:t>nats</a:t>
                </a:r>
                <a:r>
                  <a:rPr lang="en-IN" sz="2200" dirty="0"/>
                  <a:t> per step)</a:t>
                </a:r>
              </a:p>
              <a:p>
                <a:r>
                  <a:rPr lang="en-US" sz="2200" b="1" dirty="0"/>
                  <a:t>Interpretation</a:t>
                </a:r>
              </a:p>
              <a:p>
                <a:r>
                  <a:rPr lang="en-US" sz="2200" b="1" dirty="0"/>
                  <a:t>Entropy ≈ 0.09 bits/step → very low</a:t>
                </a:r>
                <a:r>
                  <a:rPr lang="en-US" sz="2200" dirty="0"/>
                  <a:t>, meaning the system is </a:t>
                </a:r>
                <a:r>
                  <a:rPr lang="en-US" sz="2200" b="1" dirty="0"/>
                  <a:t>highly predictable</a:t>
                </a:r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The topic sequence is stable: Education/Citizen themes dominate, and transitions to other topics are rare.</a:t>
                </a:r>
              </a:p>
              <a:p>
                <a:r>
                  <a:rPr lang="en-US" sz="2200" dirty="0"/>
                  <a:t>This numerical result quantitatively confirms the </a:t>
                </a:r>
                <a:r>
                  <a:rPr lang="en-US" sz="2200" b="1" dirty="0"/>
                  <a:t>structured, repetitive nature</a:t>
                </a:r>
                <a:r>
                  <a:rPr lang="en-US" sz="2200" dirty="0"/>
                  <a:t> of the speeches.</a:t>
                </a:r>
              </a:p>
              <a:p>
                <a:endParaRPr lang="en-IN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E1CFB-FD28-7D74-4624-662DB178C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886" y="1912998"/>
                <a:ext cx="11579087" cy="4754469"/>
              </a:xfrm>
              <a:blipFill>
                <a:blip r:embed="rId3"/>
                <a:stretch>
                  <a:fillRect l="-684" t="-1667" r="-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CFA80-1152-E206-CD87-B0546B62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21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816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F1865-D614-3996-B2A4-9FAA9E0A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22</a:t>
            </a:fld>
            <a:endParaRPr lang="en-IN" sz="25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305FE-4D34-D0FB-2418-ED4CC41DC3AD}"/>
              </a:ext>
            </a:extLst>
          </p:cNvPr>
          <p:cNvSpPr txBox="1"/>
          <p:nvPr/>
        </p:nvSpPr>
        <p:spPr>
          <a:xfrm>
            <a:off x="535330" y="87339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</a:rPr>
              <a:t>Conclusion</a:t>
            </a:r>
            <a:endParaRPr lang="en-IN" sz="4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02C87-57C6-EAD8-AE62-3394AD21DF31}"/>
              </a:ext>
            </a:extLst>
          </p:cNvPr>
          <p:cNvSpPr txBox="1"/>
          <p:nvPr/>
        </p:nvSpPr>
        <p:spPr>
          <a:xfrm>
            <a:off x="518546" y="856780"/>
            <a:ext cx="11138124" cy="578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Comprehensive Analysis </a:t>
            </a:r>
            <a:r>
              <a:rPr lang="en-US" altLang="en-US" sz="1900" dirty="0"/>
              <a:t>combined </a:t>
            </a:r>
            <a:r>
              <a:rPr lang="en-US" altLang="en-US" sz="1900" b="1" dirty="0"/>
              <a:t>Topic Modeling (LDA) </a:t>
            </a:r>
            <a:r>
              <a:rPr lang="en-US" altLang="en-US" sz="1900" dirty="0"/>
              <a:t>and </a:t>
            </a:r>
            <a:r>
              <a:rPr lang="en-US" altLang="en-US" sz="1900" b="1" dirty="0"/>
              <a:t>Markov Chain Theory </a:t>
            </a:r>
            <a:r>
              <a:rPr lang="en-US" altLang="en-US" sz="1900" dirty="0"/>
              <a:t>to study Mann Ki Baat speeches.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Six meaningful themes identified</a:t>
            </a:r>
            <a:r>
              <a:rPr lang="en-US" altLang="en-US" sz="1900" dirty="0"/>
              <a:t>:</a:t>
            </a:r>
            <a:br>
              <a:rPr lang="en-US" altLang="en-US" sz="1900" dirty="0"/>
            </a:br>
            <a:r>
              <a:rPr lang="en-US" altLang="en-US" sz="1900" dirty="0"/>
              <a:t>Sports/Education/Youth, Unity/Patriotism, Leadership/Health,</a:t>
            </a:r>
            <a:br>
              <a:rPr lang="en-US" altLang="en-US" sz="1900" dirty="0"/>
            </a:br>
            <a:r>
              <a:rPr lang="en-US" altLang="en-US" sz="1900" dirty="0"/>
              <a:t>Education/Farmers/Citizens, Healthcare/Donation, Women/Culture.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Topic transitions modeled as a Markov process</a:t>
            </a:r>
            <a:r>
              <a:rPr lang="en-US" altLang="en-US" sz="1900" dirty="0"/>
              <a:t>, capturing how themes flow between consecutive speech segments.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dirty="0"/>
              <a:t>  </a:t>
            </a:r>
            <a:r>
              <a:rPr lang="en-US" altLang="en-US" sz="1900" b="1" dirty="0"/>
              <a:t>Transition Matrix </a:t>
            </a:r>
            <a:r>
              <a:rPr lang="en-US" altLang="en-US" sz="1900" dirty="0"/>
              <a:t>revealed </a:t>
            </a:r>
            <a:r>
              <a:rPr lang="en-US" altLang="en-US" sz="1900" b="1" dirty="0"/>
              <a:t>Education &amp; Citizens Issues </a:t>
            </a:r>
            <a:r>
              <a:rPr lang="en-US" altLang="en-US" sz="1900" dirty="0"/>
              <a:t>as the central “hub” topic.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Stationary Distribution (π) </a:t>
            </a:r>
            <a:r>
              <a:rPr lang="en-US" altLang="en-US" sz="1900" dirty="0"/>
              <a:t>≈ [0.0023, 0.0023, 0.0023, </a:t>
            </a:r>
            <a:r>
              <a:rPr lang="en-US" altLang="en-US" sz="1900" b="1" dirty="0"/>
              <a:t>0.9885</a:t>
            </a:r>
            <a:r>
              <a:rPr lang="en-US" altLang="en-US" sz="1900" dirty="0"/>
              <a:t>, 0.0023, 0.0023] →</a:t>
            </a:r>
            <a:br>
              <a:rPr lang="en-US" altLang="en-US" sz="1900" dirty="0"/>
            </a:br>
            <a:r>
              <a:rPr lang="en-US" altLang="en-US" sz="1900" dirty="0"/>
              <a:t>~99% long-term focus on Education/Civic themes.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Expected Return Time</a:t>
            </a:r>
            <a:r>
              <a:rPr lang="en-US" altLang="en-US" sz="1900" dirty="0"/>
              <a:t>: Education topics recur </a:t>
            </a:r>
            <a:r>
              <a:rPr lang="en-US" altLang="en-US" sz="1900" b="1" dirty="0"/>
              <a:t>every speech </a:t>
            </a:r>
            <a:r>
              <a:rPr lang="en-US" altLang="en-US" sz="1900" dirty="0"/>
              <a:t>(≈1 step); others only once every ~435 speeches.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Mean First Passage Time (MFPT)</a:t>
            </a:r>
            <a:r>
              <a:rPr lang="en-US" altLang="en-US" sz="1900" dirty="0"/>
              <a:t>: From any topic, only </a:t>
            </a:r>
            <a:r>
              <a:rPr lang="en-US" altLang="en-US" sz="1900" b="1" dirty="0"/>
              <a:t>1–2 speeches </a:t>
            </a:r>
            <a:r>
              <a:rPr lang="en-US" altLang="en-US" sz="1900" dirty="0"/>
              <a:t>to reach Education — but </a:t>
            </a:r>
            <a:r>
              <a:rPr lang="en-US" altLang="en-US" sz="1900" b="1" dirty="0"/>
              <a:t>hundreds</a:t>
            </a:r>
            <a:r>
              <a:rPr lang="en-US" altLang="en-US" sz="1900" dirty="0"/>
              <a:t> to leave it.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Absorbing Behavior</a:t>
            </a:r>
            <a:r>
              <a:rPr lang="en-US" altLang="en-US" sz="1900" dirty="0"/>
              <a:t>: No exact absorbing state, but Education acts as a practically absorbing theme.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Entropy Rate = 0.09 bits/step (≈3.6% of max) </a:t>
            </a:r>
            <a:r>
              <a:rPr lang="en-US" altLang="en-US" sz="1900" dirty="0"/>
              <a:t>→ extremely </a:t>
            </a:r>
            <a:r>
              <a:rPr lang="en-US" altLang="en-US" sz="1900" b="1" dirty="0"/>
              <a:t>predictable</a:t>
            </a:r>
            <a:r>
              <a:rPr lang="en-US" altLang="en-US" sz="1900" dirty="0"/>
              <a:t>, </a:t>
            </a:r>
            <a:r>
              <a:rPr lang="en-US" altLang="en-US" sz="1900" b="1" dirty="0"/>
              <a:t>structured topic sequence</a:t>
            </a:r>
            <a:r>
              <a:rPr lang="en-US" altLang="en-US" sz="1900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en-US" sz="1900" b="1" dirty="0"/>
              <a:t>Interpretation: </a:t>
            </a:r>
            <a:r>
              <a:rPr lang="en-US" altLang="en-US" sz="1900" dirty="0"/>
              <a:t>Mann Ki Baat consistently revolves around civic, educational, and citizen-driven narratives with limited thematic drift.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654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5020-C5B6-616F-02C4-BA352DF2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9AEE73-39F2-386F-4674-9261ECBF1280}"/>
              </a:ext>
            </a:extLst>
          </p:cNvPr>
          <p:cNvSpPr/>
          <p:nvPr/>
        </p:nvSpPr>
        <p:spPr>
          <a:xfrm>
            <a:off x="3883067" y="2172204"/>
            <a:ext cx="4121245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923B2-896E-CC99-C5F8-6EC9B7FE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5135-20D0-4DE2-80F5-AD5A21D15768}" type="slidenum">
              <a:rPr lang="en-IN" sz="2500" smtClean="0">
                <a:solidFill>
                  <a:schemeClr val="tx1"/>
                </a:solidFill>
              </a:rPr>
              <a:t>23</a:t>
            </a:fld>
            <a:endParaRPr lang="en-IN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5924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1100</TotalTime>
  <Words>2613</Words>
  <Application>Microsoft Office PowerPoint</Application>
  <PresentationFormat>Widescreen</PresentationFormat>
  <Paragraphs>277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Retrospect</vt:lpstr>
      <vt:lpstr>Thematic &amp; Temporal Analysis of “ Mann Ki Baat” Speeches </vt:lpstr>
      <vt:lpstr>Introduction </vt:lpstr>
      <vt:lpstr>Motivation</vt:lpstr>
      <vt:lpstr>Objective </vt:lpstr>
      <vt:lpstr>Understanding the Dataset</vt:lpstr>
      <vt:lpstr>Data Preprocessing</vt:lpstr>
      <vt:lpstr>Chunking — Splitting Long Speeches</vt:lpstr>
      <vt:lpstr>PowerPoint Presentation</vt:lpstr>
      <vt:lpstr>Topic Modeling with LDA (Latent Dirichlet Allocation)</vt:lpstr>
      <vt:lpstr>PowerPoint Presentation</vt:lpstr>
      <vt:lpstr>PowerPoint Presentation</vt:lpstr>
      <vt:lpstr>PowerPoint Presentation</vt:lpstr>
      <vt:lpstr>PowerPoint Presentation</vt:lpstr>
      <vt:lpstr>Connecting Topics to Time</vt:lpstr>
      <vt:lpstr>Markov Chain Analysis</vt:lpstr>
      <vt:lpstr>I have counted all observed topic pairs and normalized them into probabilities.</vt:lpstr>
      <vt:lpstr>PowerPoint Presentation</vt:lpstr>
      <vt:lpstr>Stationary Distribution</vt:lpstr>
      <vt:lpstr>Absorbing and Near-Absorbing State Behavior</vt:lpstr>
      <vt:lpstr>PowerPoint Presentation</vt:lpstr>
      <vt:lpstr>Entropy Rate of the Markov Chain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Siddhesh Mane</dc:creator>
  <cp:lastModifiedBy>Adinath Nare</cp:lastModifiedBy>
  <cp:revision>12</cp:revision>
  <dcterms:created xsi:type="dcterms:W3CDTF">2025-11-10T06:39:46Z</dcterms:created>
  <dcterms:modified xsi:type="dcterms:W3CDTF">2025-11-13T06:07:21Z</dcterms:modified>
</cp:coreProperties>
</file>